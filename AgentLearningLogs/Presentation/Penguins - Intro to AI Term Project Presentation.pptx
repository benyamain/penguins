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Titillium Web"/>
      <p:regular r:id="rId21"/>
      <p:bold r:id="rId22"/>
      <p:italic r:id="rId23"/>
      <p:boldItalic r:id="rId24"/>
    </p:embeddedFont>
    <p:embeddedFont>
      <p:font typeface="Titillium Web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TitilliumWeb-bold.fntdata"/><Relationship Id="rId21" Type="http://schemas.openxmlformats.org/officeDocument/2006/relationships/font" Target="fonts/TitilliumWeb-regular.fntdata"/><Relationship Id="rId24" Type="http://schemas.openxmlformats.org/officeDocument/2006/relationships/font" Target="fonts/TitilliumWeb-boldItalic.fntdata"/><Relationship Id="rId23" Type="http://schemas.openxmlformats.org/officeDocument/2006/relationships/font" Target="fonts/TitilliumWeb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TitilliumWebLight-bold.fntdata"/><Relationship Id="rId25" Type="http://schemas.openxmlformats.org/officeDocument/2006/relationships/font" Target="fonts/TitilliumWebLight-regular.fntdata"/><Relationship Id="rId28" Type="http://schemas.openxmlformats.org/officeDocument/2006/relationships/font" Target="fonts/TitilliumWebLight-boldItalic.fntdata"/><Relationship Id="rId27" Type="http://schemas.openxmlformats.org/officeDocument/2006/relationships/font" Target="fonts/TitilliumWeb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bcb27bb5c_0_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bcb27bb5c_0_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bcb27bb5c_0_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bcb27bb5c_0_4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bcb27bb5c_0_1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bcb27bb5c_0_2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bcb27bb5c_0_2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bcb27bb5c_0_2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bcb27bb5c_0_2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bcb27bb5c_0_3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bcb27bb5c_0_3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bcb27bb5c_0_4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bcb27bb5c_0_4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cfcca6299_2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cfcca6299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cfcca6299_2_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743850"/>
            <a:ext cx="57969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973750"/>
            <a:ext cx="5796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85800" y="2230450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318775" y="1036050"/>
            <a:ext cx="5163900" cy="3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44500" lvl="0" marL="457200" rtl="0">
              <a:spcBef>
                <a:spcPts val="600"/>
              </a:spcBef>
              <a:spcAft>
                <a:spcPts val="0"/>
              </a:spcAft>
              <a:buSzPts val="3400"/>
              <a:buChar char="▰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  <p:sp>
        <p:nvSpPr>
          <p:cNvPr id="19" name="Google Shape;19;p4"/>
          <p:cNvSpPr txBox="1"/>
          <p:nvPr/>
        </p:nvSpPr>
        <p:spPr>
          <a:xfrm>
            <a:off x="604350" y="627175"/>
            <a:ext cx="8709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</a:t>
            </a:r>
            <a:endParaRPr b="1" sz="9600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2544155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4631111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/>
          <p:nvPr>
            <p:ph idx="1" type="body"/>
          </p:nvPr>
        </p:nvSpPr>
        <p:spPr>
          <a:xfrm>
            <a:off x="457200" y="4406300"/>
            <a:ext cx="60255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cxnSp>
        <p:nvCxnSpPr>
          <p:cNvPr id="58" name="Google Shape;58;p12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cxnSp>
        <p:nvCxnSpPr>
          <p:cNvPr id="67" name="Google Shape;67;p14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4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5gYHr9aKlZCbjgRDDBc9PP3bAxlcj1CQ/view" TargetMode="External"/><Relationship Id="rId4" Type="http://schemas.openxmlformats.org/officeDocument/2006/relationships/image" Target="../media/image4.jpg"/><Relationship Id="rId5" Type="http://schemas.openxmlformats.org/officeDocument/2006/relationships/hyperlink" Target="http://drive.google.com/file/d/1UJpOPu3WH7DWjwwAOx4SwG7ptN0wvTAU/view" TargetMode="External"/><Relationship Id="rId6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2055600" y="1991850"/>
            <a:ext cx="50328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🐧</a:t>
            </a:r>
            <a:r>
              <a:rPr lang="en"/>
              <a:t>Penguins</a:t>
            </a:r>
            <a:r>
              <a:rPr lang="en"/>
              <a:t>🐧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Preliminary: Reinforcement Learning</a:t>
            </a:r>
            <a:endParaRPr sz="2600"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6957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i="1" lang="en"/>
              <a:t>Reinforcement learning</a:t>
            </a:r>
            <a:r>
              <a:rPr lang="en"/>
              <a:t> is a type of machine learning.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It allows an </a:t>
            </a:r>
            <a:r>
              <a:rPr i="1" lang="en"/>
              <a:t>agent</a:t>
            </a:r>
            <a:r>
              <a:rPr lang="en"/>
              <a:t> to learn by interacting with an environment.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The agent receives rewards for </a:t>
            </a:r>
            <a:r>
              <a:rPr i="1" lang="en"/>
              <a:t>positive</a:t>
            </a:r>
            <a:r>
              <a:rPr lang="en"/>
              <a:t> actions and punishments for </a:t>
            </a:r>
            <a:r>
              <a:rPr i="1" lang="en"/>
              <a:t>negative</a:t>
            </a:r>
            <a:r>
              <a:rPr lang="en"/>
              <a:t> ones.</a:t>
            </a:r>
            <a:endParaRPr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The </a:t>
            </a:r>
            <a:r>
              <a:rPr lang="en" u="sng"/>
              <a:t>goal</a:t>
            </a:r>
            <a:r>
              <a:rPr lang="en"/>
              <a:t> is to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maximize</a:t>
            </a:r>
            <a:r>
              <a:rPr lang="en"/>
              <a:t> the cumulative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reward</a:t>
            </a:r>
            <a:r>
              <a:rPr lang="en"/>
              <a:t> over time.</a:t>
            </a:r>
            <a:endParaRPr/>
          </a:p>
        </p:txBody>
      </p:sp>
      <p:pic>
        <p:nvPicPr>
          <p:cNvPr id="93" name="Google Shape;93;p1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  <p:sp>
        <p:nvSpPr>
          <p:cNvPr id="94" name="Google Shape;94;p18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vs MORL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3528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Simple PPO</a:t>
            </a:r>
            <a:r>
              <a:rPr lang="en"/>
              <a:t>: Agent learns a single task within an environment.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Multi-Objective RL (MORL)</a:t>
            </a:r>
            <a:r>
              <a:rPr lang="en"/>
              <a:t>: Agent learns multiple objectives/tasks.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Our Implementation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528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Time constraint</a:t>
            </a:r>
            <a:r>
              <a:rPr lang="en"/>
              <a:t> - Complete task quickly.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Movement conservation</a:t>
            </a:r>
            <a:r>
              <a:rPr lang="en"/>
              <a:t> - Minimize energy use.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Feeding baby penguin</a:t>
            </a:r>
            <a:r>
              <a:rPr lang="en"/>
              <a:t> - Primary goal.</a:t>
            </a:r>
            <a:endParaRPr/>
          </a:p>
        </p:txBody>
      </p:sp>
      <p:pic>
        <p:nvPicPr>
          <p:cNvPr id="100" name="Google Shape;100;p1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  <p:sp>
        <p:nvSpPr>
          <p:cNvPr id="101" name="Google Shape;101;p19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vs MORL Analysis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-33528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Observing Penguin Agent Actions</a:t>
            </a:r>
            <a:r>
              <a:rPr lang="en"/>
              <a:t>: Compare PPO and MORL agents' actions at each timestep.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Essence of Research</a:t>
            </a:r>
            <a:r>
              <a:rPr lang="en"/>
              <a:t>: Analyze why the agents take specific actions.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PPO vs MORL</a:t>
            </a:r>
            <a:r>
              <a:rPr lang="en"/>
              <a:t>: Does MORL optimize for time and energy while feeding the baby penguin?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Potential PPO Issues</a:t>
            </a:r>
            <a:r>
              <a:rPr lang="en"/>
              <a:t>: Does PPO lead to wandering or excessive time-wasting?</a:t>
            </a:r>
            <a:endParaRPr/>
          </a:p>
        </p:txBody>
      </p:sp>
      <p:pic>
        <p:nvPicPr>
          <p:cNvPr id="107" name="Google Shape;107;p2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  <p:sp>
        <p:nvSpPr>
          <p:cNvPr id="108" name="Google Shape;108;p20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84050" y="329175"/>
            <a:ext cx="37854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Configuration Details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32500" lnSpcReduction="10000"/>
          </a:bodyPr>
          <a:lstStyle/>
          <a:p>
            <a:pPr indent="-27813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trainer_type</a:t>
            </a:r>
            <a:r>
              <a:rPr lang="en"/>
              <a:t>: ppo</a:t>
            </a:r>
            <a:endParaRPr/>
          </a:p>
          <a:p>
            <a:pPr indent="-2781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batch_size</a:t>
            </a:r>
            <a:r>
              <a:rPr lang="en"/>
              <a:t>: 128</a:t>
            </a:r>
            <a:endParaRPr/>
          </a:p>
          <a:p>
            <a:pPr indent="-2781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Determines the number of experiences (state, action, reward, next state) that are grouped together for a single update of the neural network during training.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813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buffer_size</a:t>
            </a:r>
            <a:r>
              <a:rPr lang="en"/>
              <a:t>: 2048</a:t>
            </a:r>
            <a:endParaRPr/>
          </a:p>
          <a:p>
            <a:pPr indent="-2781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Defines the total number of experiences collected from the environment before a policy update is performed.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813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learning_rate</a:t>
            </a:r>
            <a:r>
              <a:rPr lang="en"/>
              <a:t>: 0.0003</a:t>
            </a:r>
            <a:endParaRPr/>
          </a:p>
          <a:p>
            <a:pPr indent="-2781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It determines how much the policy adjusts its parameters based on the gradients calculated during training.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813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num_epoch</a:t>
            </a:r>
            <a:r>
              <a:rPr lang="en"/>
              <a:t>: 3</a:t>
            </a:r>
            <a:endParaRPr/>
          </a:p>
          <a:p>
            <a:pPr indent="-2781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Specifies the number of passes the PPO algorithm makes through the collected experience buffer during one policy update.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813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max_steps</a:t>
            </a:r>
            <a:r>
              <a:rPr lang="en"/>
              <a:t>: 1000000</a:t>
            </a:r>
            <a:endParaRPr/>
          </a:p>
          <a:p>
            <a:pPr indent="-2781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Determines the maximum number of steps of interaction (or frames of simulation) that the agent takes with the environment before training is terminated.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Overview &amp; Setup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Goal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671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Train a "Penguin" agent using Proximal Policy Optimization (PPO).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Framework</a:t>
            </a:r>
            <a:r>
              <a:rPr lang="en"/>
              <a:t>: ML-Agents v1.1.0, PyTorch v2.2.2+cu121</a:t>
            </a:r>
            <a:endParaRPr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Configuration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671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lang="en"/>
              <a:t>Both runs used the same training configuration file (config/ppo/Penguin.yaml).</a:t>
            </a:r>
            <a:endParaRPr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Agent Implementation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671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Run Penguin_01</a:t>
            </a:r>
            <a:r>
              <a:rPr lang="en"/>
              <a:t>: PenguinSimpleAgent.cs (Basic reward structure)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Run Penguin_06</a:t>
            </a:r>
            <a:r>
              <a:rPr lang="en"/>
              <a:t>: PenguinAgent.cs (Reward shaping / MORL-inspired structure)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Total Steps</a:t>
            </a:r>
            <a:r>
              <a:rPr lang="en"/>
              <a:t>: Both runs completed ~1 million steps.</a:t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Dynamics: Agent Behavior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Metric 1: Mean Episode Length (Steps per episode, late training)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Penguin_01</a:t>
            </a:r>
            <a:r>
              <a:rPr lang="en"/>
              <a:t>: ~253 steps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Penguin_06</a:t>
            </a:r>
            <a:r>
              <a:rPr lang="en"/>
              <a:t>: ~248 steps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Observation</a:t>
            </a:r>
            <a:r>
              <a:rPr lang="en"/>
              <a:t>: Higher-performing agent (06) finished episodes slightly faster.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This aligns with its reward structure penalizing movement, encouraging efficiency.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Dynamics: Agent Behavior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Metric 2: Policy Entropy (Measure of policy randomness, late training)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Penguin_01</a:t>
            </a:r>
            <a:r>
              <a:rPr lang="en"/>
              <a:t>: ~0.562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Penguin_06</a:t>
            </a:r>
            <a:r>
              <a:rPr lang="en"/>
              <a:t>: ~0.549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Observation</a:t>
            </a:r>
            <a:r>
              <a:rPr lang="en"/>
              <a:t>: </a:t>
            </a:r>
            <a:r>
              <a:rPr lang="en"/>
              <a:t>Penguin_06 had slightly lower entropy, suggesting its learned policy might be slightly more deterministic or "confident", likely due to the clearer goal and efficiency incentives.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Signals - Loss Functions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Metric 1: Policy Loss (How much the policy action probabilities are updated)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Penguin_01</a:t>
            </a:r>
            <a:r>
              <a:rPr lang="en"/>
              <a:t>: ~0.0694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Penguin_06</a:t>
            </a:r>
            <a:r>
              <a:rPr lang="en"/>
              <a:t>: ~0.0703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Observation</a:t>
            </a:r>
            <a:r>
              <a:rPr lang="en"/>
              <a:t>: Very similar values. The core PPO update mechanism behaved similarly in magnitude.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Signals - Loss Functions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Metric 2: Value Loss (Error in predicting future rewards)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Penguin_01</a:t>
            </a:r>
            <a:r>
              <a:rPr lang="en"/>
              <a:t>: ~0.1308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Penguin_06</a:t>
            </a:r>
            <a:r>
              <a:rPr lang="en"/>
              <a:t>: ~0.4058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Observation</a:t>
            </a:r>
            <a:r>
              <a:rPr lang="en"/>
              <a:t>: Penguin_06 had a significantly higher average value loss.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This doesn't mean worse learning. Predicting the state values for the much higher-reward and potentially more complex trajectory learned by Penguin_06 was likely harder for the value network.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Penguin_01: The "Simple" Agent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Objective: Feed the baby penguin.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Reward Logic</a:t>
            </a:r>
            <a:r>
              <a:rPr lang="en"/>
              <a:t>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+1f reward for eating a fish.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+1f reward for successfully feeding the baby.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Small negative reward (-1f / MaxStep) per step.</a:t>
            </a: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Penguin_06: The "MORL-Inspired" Agent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Objective: Feed the baby penguin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efficiently.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Reward Logic</a:t>
            </a:r>
            <a:r>
              <a:rPr lang="en"/>
              <a:t>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+1f reward for eating a fish.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+3f reward for feeding the baby (stronger goal incentive).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Small negative reward (-1f / MaxStep) per step.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-0.0002f penalty for moving forward.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-0.0002f penalty for turning.</a:t>
            </a:r>
            <a:endParaRPr/>
          </a:p>
        </p:txBody>
      </p:sp>
      <p:sp>
        <p:nvSpPr>
          <p:cNvPr id="155" name="Google Shape;155;p28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286300" y="2280600"/>
            <a:ext cx="2950200" cy="5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Comparison</a:t>
            </a:r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  <p:pic>
        <p:nvPicPr>
          <p:cNvPr id="161" name="Google Shape;161;p29" title="PenguinEnergy_AgentLearning_SimpleRun_EmbedModel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550" y="310886"/>
            <a:ext cx="4057402" cy="228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9" title="PenguinEnergy_AgentLearning_MORLRun_EmbedModel.web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6550" y="2647650"/>
            <a:ext cx="4057402" cy="228228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 txBox="1"/>
          <p:nvPr/>
        </p:nvSpPr>
        <p:spPr>
          <a:xfrm>
            <a:off x="2566575" y="1174975"/>
            <a:ext cx="181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Penguin_01</a:t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2566575" y="3511738"/>
            <a:ext cx="181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Penguin_06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Discussion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latin typeface="Titillium Web"/>
                <a:ea typeface="Titillium Web"/>
                <a:cs typeface="Titillium Web"/>
                <a:sym typeface="Titillium Web"/>
              </a:rPr>
              <a:t>Reward Shaping is Crucial</a:t>
            </a:r>
            <a:r>
              <a:rPr lang="en" sz="1600"/>
              <a:t>: Agent implementation impacts outcomes more than hyperparameter tuning.</a:t>
            </a:r>
            <a:endParaRPr sz="1600"/>
          </a:p>
        </p:txBody>
      </p:sp>
      <p:sp>
        <p:nvSpPr>
          <p:cNvPr id="170" name="Google Shape;170;p30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latin typeface="Titillium Web"/>
                <a:ea typeface="Titillium Web"/>
                <a:cs typeface="Titillium Web"/>
                <a:sym typeface="Titillium Web"/>
              </a:rPr>
              <a:t>Clear Goals Drive Learning</a:t>
            </a:r>
            <a:r>
              <a:rPr lang="en" sz="1600"/>
              <a:t>: Stronger primary objective reward led to significantly better results.</a:t>
            </a:r>
            <a:endParaRPr sz="1600"/>
          </a:p>
        </p:txBody>
      </p:sp>
      <p:sp>
        <p:nvSpPr>
          <p:cNvPr id="171" name="Google Shape;171;p30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latin typeface="Titillium Web"/>
                <a:ea typeface="Titillium Web"/>
                <a:cs typeface="Titillium Web"/>
                <a:sym typeface="Titillium Web"/>
              </a:rPr>
              <a:t>Incentivize Efficiency</a:t>
            </a:r>
            <a:r>
              <a:rPr lang="en" sz="1600"/>
              <a:t>: Small penalties for actions effectively guide efficient solutions.</a:t>
            </a:r>
            <a:endParaRPr sz="1600"/>
          </a:p>
        </p:txBody>
      </p:sp>
      <p:sp>
        <p:nvSpPr>
          <p:cNvPr id="172" name="Google Shape;172;p30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latin typeface="Titillium Web"/>
                <a:ea typeface="Titillium Web"/>
                <a:cs typeface="Titillium Web"/>
                <a:sym typeface="Titillium Web"/>
              </a:rPr>
              <a:t>Complexity vs. Performance</a:t>
            </a:r>
            <a:r>
              <a:rPr lang="en" sz="1600"/>
              <a:t>: Sophisticated reward shaping yields better policies but may need more tuning/training.</a:t>
            </a:r>
            <a:endParaRPr sz="1600"/>
          </a:p>
        </p:txBody>
      </p:sp>
      <p:sp>
        <p:nvSpPr>
          <p:cNvPr id="173" name="Google Shape;173;p30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22427" y="1014296"/>
            <a:ext cx="2788800" cy="1965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</a:rPr>
              <a:t>Visual perception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739896" y="5257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3D Lidar</a:t>
            </a:r>
            <a:endParaRPr/>
          </a:p>
        </p:txBody>
      </p:sp>
      <p:sp>
        <p:nvSpPr>
          <p:cNvPr id="180" name="Google Shape;180;p31"/>
          <p:cNvSpPr txBox="1"/>
          <p:nvPr>
            <p:ph idx="5" type="body"/>
          </p:nvPr>
        </p:nvSpPr>
        <p:spPr>
          <a:xfrm>
            <a:off x="3739896" y="2276801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Camera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725" y="77637"/>
            <a:ext cx="3097349" cy="213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725" y="2567724"/>
            <a:ext cx="3097349" cy="2289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286300" y="2280600"/>
            <a:ext cx="2950200" cy="5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perception</a:t>
            </a:r>
            <a:endParaRPr/>
          </a:p>
        </p:txBody>
      </p:sp>
      <p:sp>
        <p:nvSpPr>
          <p:cNvPr id="188" name="Google Shape;188;p32"/>
          <p:cNvSpPr txBox="1"/>
          <p:nvPr/>
        </p:nvSpPr>
        <p:spPr>
          <a:xfrm>
            <a:off x="-912225" y="3963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🐧</a:t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2382438" y="298300"/>
            <a:ext cx="42351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DFFB1"/>
                </a:solidFill>
              </a:rPr>
              <a:t>▰</a:t>
            </a:r>
            <a:r>
              <a:rPr lang="en" sz="2100">
                <a:solidFill>
                  <a:srgbClr val="FFFFFF"/>
                </a:solidFill>
              </a:rPr>
              <a:t> The image data generated by the camera will be used as the main observation input for the intelligent body to support subsequent deep visual perception tasks;</a:t>
            </a:r>
            <a:endParaRPr sz="2100">
              <a:solidFill>
                <a:srgbClr val="FFFFFF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DFFB1"/>
                </a:solidFill>
              </a:rPr>
              <a:t>▰</a:t>
            </a:r>
            <a:r>
              <a:rPr lang="en" sz="2100">
                <a:solidFill>
                  <a:srgbClr val="FFFFFF"/>
                </a:solidFill>
              </a:rPr>
              <a:t> Compared to simple distance sensors (e.g., laser or radar), image inputs can provide richer semantic information (e.g., recognizing the location and type of fish/penguin).</a:t>
            </a:r>
            <a:endParaRPr sz="2100">
              <a:solidFill>
                <a:srgbClr val="FFFFFF"/>
              </a:solidFill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3748" y="549612"/>
            <a:ext cx="2231800" cy="404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inacor template">
  <a:themeElements>
    <a:clrScheme name="Custom 347">
      <a:dk1>
        <a:srgbClr val="000000"/>
      </a:dk1>
      <a:lt1>
        <a:srgbClr val="FFFFFF"/>
      </a:lt1>
      <a:dk2>
        <a:srgbClr val="9199AA"/>
      </a:dk2>
      <a:lt2>
        <a:srgbClr val="E4E7EC"/>
      </a:lt2>
      <a:accent1>
        <a:srgbClr val="002988"/>
      </a:accent1>
      <a:accent2>
        <a:srgbClr val="004CF8"/>
      </a:accent2>
      <a:accent3>
        <a:srgbClr val="7DFFB1"/>
      </a:accent3>
      <a:accent4>
        <a:srgbClr val="E0FF7D"/>
      </a:accent4>
      <a:accent5>
        <a:srgbClr val="FFF16B"/>
      </a:accent5>
      <a:accent6>
        <a:srgbClr val="FFFF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